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Sinistralidade %</c:v>
                </c:pt>
              </c:strCache>
            </c:strRef>
          </c:tx>
          <c:spPr>
            <a:solidFill>
              <a:srgbClr val="C9A9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K37</c:v>
                  </c:pt>
                  <c:pt idx="1">
                    <c:v>U21</c:v>
                  </c:pt>
                  <c:pt idx="2">
                    <c:v>G07</c:v>
                  </c:pt>
                  <c:pt idx="3">
                    <c:v>I35</c:v>
                  </c:pt>
                  <c:pt idx="4">
                    <c:v>N40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1218</c:v>
                </c:pt>
                <c:pt idx="1">
                  <c:v>417</c:v>
                </c:pt>
                <c:pt idx="2">
                  <c:v>330</c:v>
                </c:pt>
                <c:pt idx="3">
                  <c:v>259</c:v>
                </c:pt>
                <c:pt idx="4">
                  <c:v>247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Contratos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55</c:v>
                </c:pt>
                <c:pt idx="2">
                  <c:v>48</c:v>
                </c:pt>
                <c:pt idx="3">
                  <c:v>63</c:v>
                </c:pt>
                <c:pt idx="4">
                  <c:v>71</c:v>
                </c:pt>
                <c:pt idx="5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bubble3D val="0"/>
            <c:spPr>
              <a:solidFill>
                <a:srgbClr val="C9A96A"/>
              </a:solidFill>
              <a:effectLst/>
            </c:spPr>
          </c:dPt>
          <c:dPt>
            <c:idx val="2"/>
            <c:bubble3D val="0"/>
            <c:spPr>
              <a:solidFill>
                <a:srgbClr val="1AA3A0"/>
              </a:solidFill>
              <a:effectLst/>
            </c:spPr>
          </c:dPt>
          <c:dPt>
            <c:idx val="3"/>
            <c:bubble3D val="0"/>
            <c:spPr>
              <a:solidFill>
                <a:srgbClr val="9DB4B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Vitamed</c:v>
                </c:pt>
                <c:pt idx="1">
                  <c:v>NovaClin</c:v>
                </c:pt>
                <c:pt idx="2">
                  <c:v>Aurora</c:v>
                </c:pt>
                <c:pt idx="3">
                  <c:v>Outras 5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22</c:v>
                </c:pt>
                <c:pt idx="2">
                  <c:v>16</c:v>
                </c:pt>
                <c:pt idx="3">
                  <c:v>32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C9A9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Tiago N.</c:v>
                  </c:pt>
                  <c:pt idx="1">
                    <c:v>Rafael S.</c:v>
                  </c:pt>
                  <c:pt idx="2">
                    <c:v>Carla R.</c:v>
                  </c:pt>
                  <c:pt idx="3">
                    <c:v>Ana R.</c:v>
                  </c:pt>
                  <c:pt idx="4">
                    <c:v>Carla A.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75</c:v>
                </c:pt>
                <c:pt idx="2">
                  <c:v>169</c:v>
                </c:pt>
                <c:pt idx="3">
                  <c:v>186</c:v>
                </c:pt>
                <c:pt idx="4">
                  <c:v>240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5.png"/><Relationship Id="rId6" Type="http://schemas.openxmlformats.org/officeDocument/2006/relationships/image" Target="../media/image-8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E7C7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114800" cy="4114800"/>
          </a:xfrm>
          <a:prstGeom prst="ellipse">
            <a:avLst/>
          </a:prstGeom>
          <a:solidFill>
            <a:srgbClr val="C9A96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SELETIVO · TIME DE DADOS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TÉCNICO · ANALISTA DE DADOS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dado cru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recomendação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</a:t>
            </a:r>
            <a:pPr indent="0" marL="0">
              <a:lnSpc>
                <a:spcPct val="98000"/>
              </a:lnSpc>
              <a:buNone/>
            </a:pPr>
            <a:r>
              <a:rPr lang="en-US" sz="5200" b="1" i="1" dirty="0">
                <a:solidFill>
                  <a:srgbClr val="C9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negócio.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— Plataforma &amp; corretora de saúde. Uma jornada de engenharia, análise e decisão sobre sinistralidade e utilização.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897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 POR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6144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Veloso Rossini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5897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REFERÊNCIA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6144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30/06/2025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0" y="5897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55280" y="6144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itens · 4 partes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jornada em 4 partes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história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mage 0" descr="/home/claude/ic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488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ENGENHARIA &amp; MODELAGEM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camada Gold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38404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 pipeline RAW→Gold, sinistralidade materializada e testes de qualidade.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29000" y="16916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03320" y="20116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3" name="Image 1" descr="/home/claude/ic_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1488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ANÁLISE &amp; INSIGHTS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65760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time deve atuar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657600" y="38404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analítico + deep dive de utilização/sinistros → recomendações priorizadas.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09360" y="16916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83680" y="20116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9" name="Image 2" descr="/home/claude/ic_chart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488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DASHBOARD &amp; STORYTELLING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53796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Comunicando ao negócio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537960" y="38404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de vendas, corretores, mix e risco + narrativa executiva de 1 página.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189720" y="16916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464040" y="20116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5" name="Image 3" descr="/home/claude/ic_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214884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1832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IA NO DIA A DIA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41832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IA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418320" y="38404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acelerou, onde validei/corrigi, um bom prompt e uma ideia de automação.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contexto e os dados crus (RAW / bronze)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Salutar Saúde ajuda empresas a contratar e gerir planos de saúde. O time de Dados usa esses dados para entender beneficiários, controlar sinistralidade e orientar onde atuar. Recebi 7 arquivos RAW — como chegam dos sistemas de origem.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4937760" cy="2743200"/>
          </a:xfrm>
          <a:prstGeom prst="roundRect">
            <a:avLst>
              <a:gd name="adj" fmla="val 2667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429000"/>
            <a:ext cx="548640" cy="548640"/>
          </a:xfrm>
          <a:prstGeom prst="ellipse">
            <a:avLst/>
          </a:prstGeom>
          <a:solidFill>
            <a:srgbClr val="C9A96A"/>
          </a:solidFill>
          <a:ln/>
        </p:spPr>
      </p:sp>
      <p:pic>
        <p:nvPicPr>
          <p:cNvPr id="7" name="Image 0" descr="/home/claude/ic_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566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3493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Suposição-chave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"Hoje" = 30/06/2025 — âncora de todas as janelas (últimos 12m, próximos 30d).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é imutável: nunca sobrescrevo a origem; trato tudo na transformação.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Priorizo poucas coisas bem-feitas e explicito o que faria com mais tempo.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600200"/>
          <a:ext cx="58064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37744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 RAW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raw_operadoras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Operadoras de saúde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operadora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raw_planos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Produtos / planos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plano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raw_corretores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Corretores / executivos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corretor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raw_empresas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Empresas clientes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empresa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raw_contratos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Vendas (apólices)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contrato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raw_beneficiarios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Vidas cobertas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beneficiário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raw_utilizacao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 / sinistros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evento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0E7C7B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01168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C9A96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246888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ENGENHARIA &amp; MODELAGEM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24688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camada Gold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468880" y="33832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dados crus numa camada confiável, modelada e reutilizável pelo negócio — o trabalho lado a lado com os engenheiros de dados.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MODELAGEM ·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(Kimball): 3 fatos, 6 dimensões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46320" y="160020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46320" y="160020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gold_fat_contratos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linha / contrato · ~109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288036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C9A96A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288036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gold_fat_utilizacao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linha / evento · ~6.480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416052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1AA3A0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416052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gold_fat_sinistralidade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× mês · ~985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1865376"/>
            <a:ext cx="2148840" cy="109728"/>
          </a:xfrm>
          <a:prstGeom prst="line">
            <a:avLst/>
          </a:prstGeom>
          <a:noFill/>
          <a:ln w="13970">
            <a:solidFill>
              <a:srgbClr val="B9C7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697480" y="1975104"/>
            <a:ext cx="2148840" cy="896112"/>
          </a:xfrm>
          <a:prstGeom prst="line">
            <a:avLst/>
          </a:prstGeom>
          <a:noFill/>
          <a:ln w="13970">
            <a:solidFill>
              <a:srgbClr val="B9C7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697480" y="3255264"/>
            <a:ext cx="2148840" cy="621792"/>
          </a:xfrm>
          <a:prstGeom prst="line">
            <a:avLst/>
          </a:prstGeom>
          <a:noFill/>
          <a:ln w="13970">
            <a:solidFill>
              <a:srgbClr val="B9C7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697480" y="1975104"/>
            <a:ext cx="2148840" cy="2907792"/>
          </a:xfrm>
          <a:prstGeom prst="line">
            <a:avLst/>
          </a:prstGeom>
          <a:noFill/>
          <a:ln w="13970">
            <a:solidFill>
              <a:srgbClr val="B9C7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1865376"/>
            <a:ext cx="2148840" cy="2670048"/>
          </a:xfrm>
          <a:prstGeom prst="line">
            <a:avLst/>
          </a:prstGeom>
          <a:noFill/>
          <a:ln w="13970">
            <a:solidFill>
              <a:srgbClr val="C9B79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60920" y="2139696"/>
            <a:ext cx="2103120" cy="1115568"/>
          </a:xfrm>
          <a:prstGeom prst="line">
            <a:avLst/>
          </a:prstGeom>
          <a:noFill/>
          <a:ln w="13970">
            <a:solidFill>
              <a:srgbClr val="B9C7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360920" y="1975104"/>
            <a:ext cx="2103120" cy="2084832"/>
          </a:xfrm>
          <a:prstGeom prst="line">
            <a:avLst/>
          </a:prstGeom>
          <a:noFill/>
          <a:ln w="13970">
            <a:solidFill>
              <a:srgbClr val="C9B79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7360920" y="3255264"/>
            <a:ext cx="2103120" cy="804672"/>
          </a:xfrm>
          <a:prstGeom prst="line">
            <a:avLst/>
          </a:prstGeom>
          <a:noFill/>
          <a:ln w="13970">
            <a:solidFill>
              <a:srgbClr val="C9B79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360920" y="4059936"/>
            <a:ext cx="2103120" cy="475488"/>
          </a:xfrm>
          <a:prstGeom prst="line">
            <a:avLst/>
          </a:prstGeom>
          <a:noFill/>
          <a:ln w="13970">
            <a:solidFill>
              <a:srgbClr val="C9B79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60120" y="160020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4F6F6"/>
          </a:solidFill>
          <a:ln w="1397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16002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dim_empresa · 41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60120" y="260604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4F6F6"/>
          </a:solidFill>
          <a:ln w="1397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2606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dim_plano · 28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60120" y="361188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4F6F6"/>
          </a:solidFill>
          <a:ln w="1397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61188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dim_operadora · 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0120" y="461772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4F6F6"/>
          </a:solidFill>
          <a:ln w="1397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6177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dim_corretor · 25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464040" y="187452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4F6F6"/>
          </a:solidFill>
          <a:ln w="13970">
            <a:solidFill>
              <a:srgbClr val="0E7C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64040" y="18745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dim_beneficiario · 1.558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464040" y="379476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4F6F6"/>
          </a:solidFill>
          <a:ln w="13970">
            <a:solidFill>
              <a:srgbClr val="0E7C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64040" y="37947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dim_data · 4.748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5440680"/>
            <a:ext cx="292608" cy="0"/>
          </a:xfrm>
          <a:prstGeom prst="line">
            <a:avLst/>
          </a:prstGeom>
          <a:noFill/>
          <a:ln w="13970">
            <a:solidFill>
              <a:srgbClr val="C9B79A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230368" y="5285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dim_data / dim_empresa — dimensões conformadas (ligam vários fatos)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56692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" y="56692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3 fatos?  </a:t>
            </a:r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Grãos distintos (contrato · evento · empresa-mês) e aditividade distinta. fat_sinistralidade é pré-agregado para consumo direto no BI. dim_data conformada evita colunas-FK repetidas e liga vendas × utilização × sinistralidade.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PIPELINE RAW → GOLD ·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Investigar, tratar e documentar a qualidade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0B20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Bronze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como chegam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3160" y="2029968"/>
            <a:ext cx="274320" cy="0"/>
          </a:xfrm>
          <a:prstGeom prst="line">
            <a:avLst/>
          </a:prstGeom>
          <a:noFill/>
          <a:ln w="2540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97480" y="160020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60020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limpo, tipado, padronizado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029968"/>
            <a:ext cx="274320" cy="0"/>
          </a:xfrm>
          <a:prstGeom prst="line">
            <a:avLst/>
          </a:prstGeom>
          <a:noFill/>
          <a:ln w="2540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46320" y="160020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C9A96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0020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p/ negócio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1691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stack: PySpark + Delta Lake no Databricks (Unity Catalog). SQL para as regras declarativas.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qualidade encontrados &amp; regras aplicadas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" y="31089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despadronizadas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31089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'Ativo' / 'ativo' / 'ATIVO' / 'Ativo '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09160" y="310896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trim + upper + mapa canônico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3730752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inconsistente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80360" y="37307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'SP' vs 'São Paulo'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09160" y="373075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lookup UF → sigla padrão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4352544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" y="43525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 heterogêneo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0360" y="435254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'M' / 'Masculino' / vazio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09160" y="4352544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normaliza p/ {M,F,NA}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4974336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3232" y="497433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/ moeda BR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80360" y="49743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'30/06/2025', 'R$ 1.234,56'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09160" y="497433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cast explícito, locale pt-BR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5596128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3232" y="559612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Duplicidade de chave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80360" y="559612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empresa_id=8, contrato_id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09160" y="559612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dedup por window row_number()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63640" y="3108960"/>
            <a:ext cx="5376672" cy="3063240"/>
          </a:xfrm>
          <a:prstGeom prst="roundRect">
            <a:avLst>
              <a:gd name="adj" fmla="val 1791"/>
            </a:avLst>
          </a:prstGeom>
          <a:solidFill>
            <a:srgbClr val="0B2027"/>
          </a:solidFill>
          <a:ln/>
        </p:spPr>
      </p:sp>
      <p:sp>
        <p:nvSpPr>
          <p:cNvPr id="35" name="Text 33"/>
          <p:cNvSpPr/>
          <p:nvPr/>
        </p:nvSpPr>
        <p:spPr>
          <a:xfrm>
            <a:off x="6464808" y="3255264"/>
            <a:ext cx="497433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B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silver: padronização declarativa (PySpark)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df_silver = (df_raw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.withColumn('status',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F.upper(F.trim('status')))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.replace(STATUS_MAP, subset=['status'])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.withColumn('uf', map_uf('uf'))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.withColumn('valor',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to_number_brl('valor'))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.dropDuplicates(['beneficiario_id']))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regra documentada, não adivinhada: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reporto no README o que assumi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MÉTRICA MATERIALIZADA ·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Sinistralidade mensal por empresa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métrica mais importante do negócio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sinistralidade = </a:t>
            </a:r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dos sinistros ÷ receita de prêmios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Exposta na Gold como gold_fat_sinistralidade — pronta para o negócio consumir no BI, sem recálculo.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 de cálculo (explícitas)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Janela: mês-calendário; âncora 'hoje' = 30/06/2025.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Receita: soma do prêmio mensal dos contratos ativos no mês (pró-rata p/ contratos parciais).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Sinistro: soma do custo dos eventos com data no mês.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parciais: rateio por dias de vigência no mês.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sem receita → sinistralidade nula/flag (evita divisão por zero).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468112" cy="2514600"/>
          </a:xfrm>
          <a:prstGeom prst="roundRect">
            <a:avLst>
              <a:gd name="adj" fmla="val 2182"/>
            </a:avLst>
          </a:prstGeom>
          <a:solidFill>
            <a:srgbClr val="0B2027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746504"/>
            <a:ext cx="506577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B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gold_fat_sinistralidade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empresa_id,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date_trunc('month', ref_date) AS mes,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SUM(custo_sinistro)  AS sinistro,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SUM(premio_prorata)  AS receita,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SUM(custo_sinistro)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 NULLIF(SUM(premio_prorata),0)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sinistralidade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fatos JOIN dims ...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1, 2;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4297680"/>
            <a:ext cx="5468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uma linha por (empresa × mês), com receita, sinistro e razão — base direta do Painel de Risco (Parte 3).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QUALIDADE &amp; CONFIABILIDADE · ABERTA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Suíte DQ: 74 testes automáticos, 9 tabelas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37944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ic_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751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96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testes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423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dentro das listas aceitas (porte, UF, tipo, status)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43400" y="1600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837944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1" descr="/home/claude/ic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7510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8196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25780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testes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99432" y="2423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financeiros: receita = valor/vida × vidas; margem = receita − custo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138160" y="1600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1837944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2" descr="/home/claude/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97510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52560" y="18196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05256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testes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394192" y="2423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 sem órfãos: cadeia empresa → contrato → beneficiário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3218688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345643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4" name="Image 3" descr="/home/claude/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9359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34381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Unicidade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463040" y="3739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testes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04672" y="40416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PKs sem duplicata (empresa_id, contrato_id, evento_id)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343400" y="3218688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72000" y="345643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0" name="Image 4" descr="/home/claude/ic_chart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59359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57800" y="34381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5257800" y="3739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testes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599432" y="40416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tabela com a quantidade esperada de registros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8138160" y="3218688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66760" y="345643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6" name="Image 5" descr="/home/claude/ic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59359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052560" y="34381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9052560" y="3739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testes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8394192" y="40416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obrigatórios sem valores em branco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0B2027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77724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WARN / FAIL bloqueia o pipeline — dado ruim não chega ao relatório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77724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1:  </a:t>
            </a:r>
            <a:pPr indent="0" marL="0">
              <a:buNone/>
            </a:pPr>
            <a:r>
              <a:rPr lang="en-US" sz="1150" dirty="0">
                <a:solidFill>
                  <a:srgbClr val="F0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PASS · 1 WARN · 4 FAIL</a:t>
            </a:r>
            <a:pPr indent="0" marL="0"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duplicatas de empresa_id/contrato_id vindas da Silver propagaram até a Gold.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7772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2:  </a:t>
            </a:r>
            <a:pPr indent="0" marL="0">
              <a:buNone/>
            </a:pPr>
            <a:r>
              <a:rPr lang="en-US" sz="1150" b="1" dirty="0">
                <a:solidFill>
                  <a:srgbClr val="9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PASS · 1 WARN · 0 FAIL  ✅ Aprovado</a:t>
            </a:r>
            <a:pPr indent="0" marL="0"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após deduplicação defensiva na reconstrução das tabelas Gold.</a:t>
            </a:r>
            <a:endParaRPr lang="en-US" sz="1150" dirty="0"/>
          </a:p>
        </p:txBody>
      </p:sp>
      <p:sp>
        <p:nvSpPr>
          <p:cNvPr id="44" name="Text 36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O VALOR ENTREGUE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7 arquivos crus a uma fonte única confiável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Gold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dimensões + 3 fatos, modelo Kimball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8288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20440" y="2560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QA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rodando a cada carga, 0 FAIL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8288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~15,4 mil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tratados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1.558 vidas · 6.480 eventos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89720" y="16459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0B2027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81160" y="18288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281160" y="2560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métrica-chave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72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sinistralidade pronta no BI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 para o negócio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2" name="Image 0" descr="/home/claude/ic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206240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34440" y="40507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versão oficial dos números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303520" y="40233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relatórios financeiros e KPIs passam a beber da mesma fonte — fim das divergências entre planilhas.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81888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6" name="Image 1" descr="/home/claude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956048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234440" y="4800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auditável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5303520" y="477316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carga é verificada automaticamente; um problema de dado é bloqueado antes de virar decisão errada.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48640" y="5568696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0" name="Image 2" descr="/home/claude/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705856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234440" y="55504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análise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5303520" y="5522976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já resolve datas BR, categorias despadronizadas e duplicatas — o analista foca em pergunta de negócio, não em limpeza.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0E7C7B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01168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C9A96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246888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ANÁLISE &amp; INSIGHTS DE NEGÓCIO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24688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time deve atuar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468880" y="33832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analítica e recomendações que o negócio consiga executar — usando a camada Gold construída na Parte 1.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SQL ANALÍTICO ·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consultas, cinco decisões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47088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556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mais vendidos (12m)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nº de contratos e por vidas cobertas.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25880" y="22494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% via window SUM() OVER() — volume ≠ cobertura.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779776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79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68833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empresas por prêmio (6m)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98094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mensal acumulada, RANK() p/ empates.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25880" y="318211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prêmio recorrente, não valor único da apólice.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511296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712464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12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6210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 corretores (trim.)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39136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Valor, contratos e vidas por corretor.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25880" y="411480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normalizo por dias ativos — justo p/ recém-admitidos.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443984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645152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455371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a expirar (30d)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4846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em risco = receita mensal perdida.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25880" y="504748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janela 01–30/07/2025; bordas inclusivas.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376672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5577840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577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25880" y="54864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Sinistralidade por empresa (12m)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Acumulada (custo/receita), não média das taxas.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325880" y="598017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🔴 &gt;100% prejuízo · 🟡 &gt;80% atenção.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43800" y="1645920"/>
            <a:ext cx="4096512" cy="4206240"/>
          </a:xfrm>
          <a:prstGeom prst="roundRect">
            <a:avLst>
              <a:gd name="adj" fmla="val 1339"/>
            </a:avLst>
          </a:prstGeom>
          <a:solidFill>
            <a:srgbClr val="0B2027"/>
          </a:solidFill>
          <a:ln/>
        </p:spPr>
      </p:sp>
      <p:sp>
        <p:nvSpPr>
          <p:cNvPr id="35" name="Text 33"/>
          <p:cNvSpPr/>
          <p:nvPr/>
        </p:nvSpPr>
        <p:spPr>
          <a:xfrm>
            <a:off x="7744968" y="1792224"/>
            <a:ext cx="3694176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B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Q3 · corretores (normalizado)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c.corretor_nome,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SUM(k.valor_mensal) AS valor,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           AS contratos,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SUM(k.num_vidas)    AS vidas,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LEAST(DATEDIFF(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DATE'2025-06-30',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c.data_admissao)+1, 91)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dias_ativos,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SUM(k.valor_mensal)/dias_ativos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valor_por_dia_ativo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gold_fat_contratos 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gold_dim_corretor c USING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(corretor_id)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k.data_venda &gt;=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B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DATE'2025-04-01'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1, c.data_admissao;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as consultas revelaram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28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R$ 405M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23957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prêmio mensal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724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Q17 (Logística, CE) lidera o ranking de 6 meses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64592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0B2027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1828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contratos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16552" y="23957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expiram em 30 dias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16552" y="2724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R$ 516M em receita mensal em risco — priorizar retenção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64592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2440" y="1828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Carla Almeida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119872" y="23957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corretora nº1 (Jr)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19872" y="2724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R$ 2.633/dia ativo — normalização revela talento júnior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109167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C9A96A"/>
          </a:solidFill>
          <a:ln/>
        </p:spPr>
      </p:sp>
      <p:pic>
        <p:nvPicPr>
          <p:cNvPr id="18" name="Image 0" descr="/home/claude/ic_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7764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630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Sinistralidade (12m) — o alerta que muda a conversa comercial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77240" y="4343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empresas em prejuízo técnico (&gt;100%)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21 acima de 80% de sinistralidade no período.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7724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extremo — Empresa K37: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1.218% de sinistralidade, −R$ 1,3M acumulado.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Empresa I09: custo sem receita (flag automático de investigação).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126480" y="4160520"/>
          <a:ext cx="521208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DEEP DIVE · ABERTA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são nossos usuários — e onde atuar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do case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0B2027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(PARETO)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9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41,7%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custo (R$ 41,1M) vem de apenas 132 pessoas — o top 10%. Custo médio R$ 311 mil/pessoa, 6,5× a média.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0" y="1600200"/>
            <a:ext cx="760780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20116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0" descr="/home/claude/ic_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1488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983480" y="17465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high-cost claimant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83480" y="2112264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Titular, masculino, 45+ anos: a faixa 45+ é 58% do grupo. 72% do seu custo é cirurgia (ticket R$ 88,7 mil). Oncologia, Endocrinologia e Psiquiatria lideram.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23360" y="3136392"/>
            <a:ext cx="7607808" cy="1371600"/>
          </a:xfrm>
          <a:prstGeom prst="roundRect">
            <a:avLst>
              <a:gd name="adj" fmla="val 5333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51960" y="354787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1" descr="/home/claude/ic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368503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83480" y="32826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983480" y="3648456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45+ = 55,8% do custo com só 34% das vidas. Coparticipação atual reduz custo só 5% — mecanismo pouco efetivo. Logística/Média tem o maior custo per-capita (R$ 150 mil).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023360" y="4672584"/>
            <a:ext cx="760780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251960" y="5084064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2" descr="/home/claude/ic_hospi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5221224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83480" y="48188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de utilização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983480" y="5184648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Cirurgia + Internação = 96,6% do custo com 30% dos eventos. PS custa 5,5× uma consulta e tem uso não-urgente — 4 empresas com &gt;15% de eventos em PS.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Rigor: base de 6.465 eventos / 1.316 beneficiários com sinistro; sinistralidade acumulada (não média de taxas); separo correlação de causa.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ONDE O TIME DEVERIA ATUAR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 4 recomendações acionáveis e priorizadas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019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A96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 do Top 10%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caso p/ 132 vidas; 2ª opinião antes de cirurgia eletiva; navegação p/ ambulatório.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312724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~R$ 6,2M/ano   ·   KPI: custo per-capita do grupo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53912" y="16459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82512" y="19019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A96A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22592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Abordar as 5 empresas de maior prejuízo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9944" y="25146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T20, G07, U21, K37, E05 — reajuste técnico + copay efetivo + saúde corporativa 45+.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9944" y="312724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~R$ 7,3M/ano   ·   KPI: sinistralidade pós-ação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05079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A96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069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Redirecionar PS → ambulatório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4672" y="46634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24h nas 4 empresas com &gt;15% de PS (E31, R18, A01, M13).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" y="52760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~R$ 350K/ano   ·   KPI: razão PS/consulta &lt;10%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53912" y="37947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82512" y="405079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A96A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22592" y="4069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Redesenhar coparticipação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9944" y="46634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Copay progressivo: 30% em cirurgia eletiva, 0% em prevenção (o atual só reduz 5%).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9944" y="52760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~R$ 6,3M/ano   ·   KPI: frequência cirúrgica eletiva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INSIGHTS LIVRES · ABERTA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Além do pedido — curiosidade analítica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548640" cy="548640"/>
          </a:xfrm>
          <a:prstGeom prst="ellipse">
            <a:avLst/>
          </a:prstGeom>
          <a:solidFill>
            <a:srgbClr val="C9A96A"/>
          </a:solidFill>
          <a:ln/>
        </p:spPr>
      </p:sp>
      <p:pic>
        <p:nvPicPr>
          <p:cNvPr id="6" name="Image 0" descr="/home/claude/ic_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· ALTA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08760" y="21305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adversa confirmada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262432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Vidas com &lt;3 meses custam 57% mais (R$ 56K vs 35,5K). Ação: reforçar carência p/ cirurgia eletiva + DPS na adesão.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53912" y="16002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9944" y="187452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1" descr="/home/claude/ic_hospi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20116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14032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· ALTA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114032" y="21305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PS → cirurgia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9944" y="262432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de quem usa PS escala p/ cirurgia/internação em 90 dias (R$ 11,1M). Janela média de 48 dias p/ interceptar.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7490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402336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2" descr="/home/claude/ic_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1605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023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 · ALTA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508760" y="4279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sazonal Jun/25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04672" y="477316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cirurgias (Z=2,25, 4× o início do período) = R$ 10,4M num só mês. Ação: provisionar reserva 40% maior e negociar rede.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53912" y="37490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4F6F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9944" y="4023360"/>
            <a:ext cx="548640" cy="548640"/>
          </a:xfrm>
          <a:prstGeom prst="ellipse">
            <a:avLst/>
          </a:prstGeom>
          <a:solidFill>
            <a:srgbClr val="C9A96A"/>
          </a:solidFill>
          <a:ln/>
        </p:spPr>
      </p:sp>
      <p:pic>
        <p:nvPicPr>
          <p:cNvPr id="24" name="Image 3" descr="/home/claude/ic_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416052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14032" y="4023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· ALTA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114032" y="4279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sistêmico imprevisível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409944" y="477316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cirurgia+especialidade varia até 28×. Ação: tabela de referência com teto no P90 e pacotes fechados.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verificados: carteira diversificada (HHI 414, saudável) e corretores sem sinistralidade elevada (&lt;4%) — riscos descartados com evidência.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O VALOR ENTREGUE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análise ao dinheiro na mesa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0B2027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IDENTIFICADO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~R$ 20M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 em margem recuperável, somando as 4 recomendações priorizadas.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5120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real ancorado em evidência da camada Gold — não em achismo.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8056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de negócio respondidas com dado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194560"/>
            <a:ext cx="7159752" cy="777240"/>
          </a:xfrm>
          <a:prstGeom prst="roundRect">
            <a:avLst>
              <a:gd name="adj" fmla="val 9412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3225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o custo?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60920" y="22860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vidas (10%) = 42% do gasto. O alvo ficou nominal e priorizável.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3108960"/>
            <a:ext cx="71597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32369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clientes dão prejuízo?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60920" y="32004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empresas &gt;100% de sinistralidade, com o valor exato do rombo de cada uma.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4023360"/>
            <a:ext cx="7159752" cy="777240"/>
          </a:xfrm>
          <a:prstGeom prst="roundRect">
            <a:avLst>
              <a:gd name="adj" fmla="val 9412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41513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custo é evitável?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60920" y="4114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PS→cirurgia (29%), seleção adversa (+57%) e pico sazonal (R$ 10,4M) mapeados.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80560" y="4937760"/>
            <a:ext cx="71597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50657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comercial atua já?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60920" y="50292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contratos a renovar e 5 empresas a reprecificar, ordenados por valor em risco.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0E7C7B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01168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C9A96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246888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DASHBOARD &amp; STORYTELLING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24688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Comunicando ao negócio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468880" y="33832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para uma audiência de negócio — liderança comercial e de operações de saúde. Da evidência à decisão.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painéis para a liderança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de vendas — contratos e vidas / mês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103120"/>
          <a:ext cx="521208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44768" y="16002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27648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plano / operadora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309360" y="2103120"/>
          <a:ext cx="521208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38862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31520" y="4023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 corretores — valor vendido (trim., R$ mil)</a:t>
            </a:r>
            <a:endParaRPr lang="en-US" sz="120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685800" y="4343400"/>
          <a:ext cx="521208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Shape 8"/>
          <p:cNvSpPr/>
          <p:nvPr/>
        </p:nvSpPr>
        <p:spPr>
          <a:xfrm>
            <a:off x="6144768" y="38862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327648" y="4023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risco — sinistralidade &amp; expiração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4389120"/>
          <a:ext cx="5166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34440"/>
                <a:gridCol w="1371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Sinistr.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2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 K37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prejuízo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 U21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prejuízo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 G07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prejuízo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 T20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prejuízo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54864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Construído sobre a Gold (dados de saúde nunca saem do ambiente Databricks). Números reais da carteira analisada.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NARRATIVA EXECUTIVA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conclusões e a recomendação de onde atuar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00" cy="1005840"/>
          </a:xfrm>
          <a:prstGeom prst="roundRect">
            <a:avLst>
              <a:gd name="adj" fmla="val 7273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3794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é concentrado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beneficiários (10%) concentram 42% do custo — R$ 41,1M. A alavanca de maior ROI é a gestão de casos desse grupo.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7315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98094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empresas estão em prejuízo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337560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Sinistralidade acima de 100% pressiona a margem. As 5 maiores somam mais de R$ 7M de prejuízo recuperável.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7315200" cy="1005840"/>
          </a:xfrm>
          <a:prstGeom prst="roundRect">
            <a:avLst>
              <a:gd name="adj" fmla="val 7273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12394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custo evitável mapeado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480560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PS→cirurgia (29% escalam), seleção adversa (+57%) e copay ineficaz (−5%) — todos com ação e KPI definidos.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92440" y="1691640"/>
            <a:ext cx="3547872" cy="3429000"/>
          </a:xfrm>
          <a:prstGeom prst="roundRect">
            <a:avLst>
              <a:gd name="adj" fmla="val 2133"/>
            </a:avLst>
          </a:prstGeom>
          <a:solidFill>
            <a:srgbClr val="0B2027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1920240"/>
            <a:ext cx="548640" cy="548640"/>
          </a:xfrm>
          <a:prstGeom prst="ellipse">
            <a:avLst/>
          </a:prstGeom>
          <a:solidFill>
            <a:srgbClr val="C9A96A"/>
          </a:solidFill>
          <a:ln/>
        </p:spPr>
      </p:sp>
      <p:pic>
        <p:nvPicPr>
          <p:cNvPr id="21" name="Image 0" descr="/home/claude/ic_bullsey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205740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006840" y="1993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ATUAR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21040" y="256032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management dos 132 high-cost claimants + reprecificação das 5 empresas em maior prejuízo. Maior impacto de margem no menor prazo.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321040" y="44348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Impacto-alvo ~R$ 13M/ano, medido por Δ sinistralidade em 3 meses.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0E7C7B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01168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C9A96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246888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IA NO DIA A DIA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24688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IA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468880" y="33832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uso ferramentas de IA para acelerar, elevar a qualidade e automatizar — decidindo o que delegar, validando resultados e cuidando de dados sensíveis.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RELATO DE USO DE IA ·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ajudou, onde eu validei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ic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38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IA acelerou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de PySpark/SQL e esqueleto do pipeline.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 da modelagem dimensional e do diagrama.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Documentação, README e estrutura desta apresentação.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dados de teste sintéticos p/ validar regras.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44768" y="1645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73368" y="1874520"/>
            <a:ext cx="548640" cy="548640"/>
          </a:xfrm>
          <a:prstGeom prst="ellipse">
            <a:avLst/>
          </a:prstGeom>
          <a:solidFill>
            <a:srgbClr val="C9A96A"/>
          </a:solidFill>
          <a:ln/>
        </p:spPr>
      </p:sp>
      <p:pic>
        <p:nvPicPr>
          <p:cNvPr id="11" name="Image 1" descr="/home/claude/ic_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0116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59168" y="1938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errou / precisou de mim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373368" y="24231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(limiar, pró-rata) — decisão minha.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Alucinou colunas inexistentes → conferi no dicionário.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Bordas de janela de data e nulos exigiram revisão.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saúde: nunca expostos a ferramentas externas.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0333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77240" y="4251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prompt que considerei útil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77240" y="46177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"Dado este dicionário de dados, gere os testes de qualidade (unicidade, FK, ranges) como asserções declarativas, listando as suposições que você fez."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77240" y="5623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força a IA a explicitar premissas — eu valido em vez de confiar cego.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44768" y="411480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EEF3F3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73368" y="4343400"/>
            <a:ext cx="548640" cy="548640"/>
          </a:xfrm>
          <a:prstGeom prst="ellipse">
            <a:avLst/>
          </a:prstGeom>
          <a:solidFill>
            <a:srgbClr val="C9A96A"/>
          </a:solidFill>
          <a:ln/>
        </p:spPr>
      </p:sp>
      <p:pic>
        <p:nvPicPr>
          <p:cNvPr id="20" name="Image 2" descr="/home/claude/ic_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48056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59168" y="44074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manual que eu automatizaria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73368" y="48463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Perfilamento de qualidade dos dados a cada ingestão: um agente que roda os testes, resume anomalias e abre um alerta com a regra provável — reduzindo triagem manual de RAW.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E7C7B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7 entregáveis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do modelo dimensional (1.1)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807208"/>
            <a:ext cx="502920" cy="502920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76148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do pipeline RAW → Gold + notas de qualidade (Parte 1)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648456"/>
            <a:ext cx="502920" cy="502920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360273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da Parte 2.1 (comentadas)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489704"/>
            <a:ext cx="502920" cy="502920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89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444398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insights (2.2) com evidências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1965960"/>
            <a:ext cx="502920" cy="502920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32320" y="1920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narrativa executiva (Parte 3)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2807208"/>
            <a:ext cx="502920" cy="502920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32320" y="276148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 de uso de IA (Parte 4)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3648456"/>
            <a:ext cx="502920" cy="502920"/>
          </a:xfrm>
          <a:prstGeom prst="ellipse">
            <a:avLst/>
          </a:prstGeom>
          <a:solidFill>
            <a:srgbClr val="C9A96A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32320" y="360273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curto: como rodar + suposições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5989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9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dado cru à recomendação de negócio.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Salutar Saúde · Case Técnico — Pipo Saúde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Salutar Saúde — Do dado cru à recomendação de negócio</dc:title>
  <dc:subject>PptxGenJS Presentation</dc:subject>
  <dc:creator>Luan Veloso Rossini</dc:creator>
  <cp:lastModifiedBy>Luan Veloso Rossini</cp:lastModifiedBy>
  <cp:revision>1</cp:revision>
  <dcterms:created xsi:type="dcterms:W3CDTF">2026-07-06T00:06:00Z</dcterms:created>
  <dcterms:modified xsi:type="dcterms:W3CDTF">2026-07-06T00:06:00Z</dcterms:modified>
</cp:coreProperties>
</file>